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2B14F8-AE17-9A5F-9423-5359475DA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A769E6-A453-2059-4793-F089082FF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C4B180-D75A-9E8E-3B90-224A08CEF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E8A76-39F3-4C66-8EA3-99D32DCC912E}" type="datetimeFigureOut">
              <a:rPr lang="es-CO" smtClean="0"/>
              <a:t>30/03/2026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0376F0-21D6-1F25-1521-48A4BAE22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96A07D-3700-6291-B6AF-A2F7562D8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2619-51D3-4669-8534-F8430F830B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0246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53417F-B299-7EFC-ED54-435CBA0A9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689A43-6ECA-BF99-E349-E45928A9E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E0CB79-116E-C486-56D6-289FE8776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E8A76-39F3-4C66-8EA3-99D32DCC912E}" type="datetimeFigureOut">
              <a:rPr lang="es-CO" smtClean="0"/>
              <a:t>30/03/2026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AABF6E-6638-A98B-C0CB-F6ED335C1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FB486E-FCD0-D35D-B549-9991BF527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2619-51D3-4669-8534-F8430F830B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19891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578B2B-DD11-CAEF-36ED-8C8D7D6E8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7D4137-D7CE-4CF6-2C52-372CF390E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7B7F31-7B04-ABCF-08B7-760D0A9F3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E8A76-39F3-4C66-8EA3-99D32DCC912E}" type="datetimeFigureOut">
              <a:rPr lang="es-CO" smtClean="0"/>
              <a:t>30/03/2026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766C34-A17A-FD60-9B9F-D3BD621FB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2DAD09-2327-7139-E876-8EE2616A1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2619-51D3-4669-8534-F8430F830B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61797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BE0BA6-340E-AC41-A6CD-260011756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9AC8E7-A8DC-9BD3-D2BC-78A050E9E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94F1D97-8C0C-D723-D85A-63A694E35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73085ED-83D9-38BD-8EF3-141095981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E8A76-39F3-4C66-8EA3-99D32DCC912E}" type="datetimeFigureOut">
              <a:rPr lang="es-CO" smtClean="0"/>
              <a:t>30/03/2026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DDFDBD-8F47-1C08-022B-9ED357104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F084B07-3DF9-14F8-2D8A-A89F84B3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2619-51D3-4669-8534-F8430F830B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4986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DD073E-85DA-1FC4-E05F-605F6EFC4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26673A-5B41-B5EB-0AFB-0B83595B2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F09794B-0597-AD3C-6C0F-DA7EB73DBE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A8F96FE-1D5E-C3F0-D3D4-33E7934F51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14FB9CA-FE9F-3B6A-D98D-F1F8DE3B5B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BC34224-F6AE-8677-0EA9-8267E3D58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E8A76-39F3-4C66-8EA3-99D32DCC912E}" type="datetimeFigureOut">
              <a:rPr lang="es-CO" smtClean="0"/>
              <a:t>30/03/2026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082C31-85DD-6D71-9284-C34BED30F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E98E25A-1EDC-2718-A355-E75EBA82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2619-51D3-4669-8534-F8430F830B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969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E43E90-F9BA-EFC8-4DF7-67A6F09EC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3180407-2DD8-1B68-24FA-F209FC3EC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E8A76-39F3-4C66-8EA3-99D32DCC912E}" type="datetimeFigureOut">
              <a:rPr lang="es-CO" smtClean="0"/>
              <a:t>30/03/2026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5BA2829-6202-666B-B266-A9431179F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21F9212-DA87-3A98-7A3D-542DD689D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2619-51D3-4669-8534-F8430F830B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7928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9A90093-FE4E-4710-A510-33D522F2D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E8A76-39F3-4C66-8EA3-99D32DCC912E}" type="datetimeFigureOut">
              <a:rPr lang="es-CO" smtClean="0"/>
              <a:t>30/03/2026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55978AF-0991-129B-614C-116D69377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2FEBA3-1270-238F-A73E-4FE20D22D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2619-51D3-4669-8534-F8430F830B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5755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E5B5DD-22D3-AAD1-993A-D674499B7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CF5394-D2D9-8950-BCE9-04A1C3DDE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5B4495C-8956-15BC-2EF6-1FA9DA416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B18B5A-7CD3-34CC-D3E0-DD11E52A8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E8A76-39F3-4C66-8EA3-99D32DCC912E}" type="datetimeFigureOut">
              <a:rPr lang="es-CO" smtClean="0"/>
              <a:t>30/03/2026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1CA711-9BA2-DC88-388D-2C05AB407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541D97-CB74-090F-84C3-8E494AAC7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2619-51D3-4669-8534-F8430F830B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89033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155F69-5977-C22D-BBB4-BF86A1E53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4483F2C-FFE6-6ECB-111E-4BA354E19C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9E66976-FEE5-5F47-0A6D-0F4BCF972D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591F3AD-E972-D1CC-F023-8F5F8A93F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E8A76-39F3-4C66-8EA3-99D32DCC912E}" type="datetimeFigureOut">
              <a:rPr lang="es-CO" smtClean="0"/>
              <a:t>30/03/2026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57E0419-572A-2B1F-C353-24D67491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FD716E-B9A8-9F85-7E20-B965BE13B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2619-51D3-4669-8534-F8430F830B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76085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5EDD1F-00B6-5191-169B-7FAEF6652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5730206-D6E7-A832-DF9D-1A4FC8D217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4D3EA9-F0B3-DA5D-2558-4472DFED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E8A76-39F3-4C66-8EA3-99D32DCC912E}" type="datetimeFigureOut">
              <a:rPr lang="es-CO" smtClean="0"/>
              <a:t>30/03/2026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80AE56-D9BE-84AC-514E-E9D6D8960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8A6DC3-FA9D-DD2C-21DA-D571ECD15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2619-51D3-4669-8534-F8430F830B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6651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64474F1-D2A5-8AF2-7CD9-CE77ABDDBB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475072D-4328-2742-B1D3-67CB7ECA7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A45556-D5FF-3A99-9CAA-7E53362B9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E8A76-39F3-4C66-8EA3-99D32DCC912E}" type="datetimeFigureOut">
              <a:rPr lang="es-CO" smtClean="0"/>
              <a:t>30/03/2026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0CDD7C-3F64-A27B-7E85-FAFB03A21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4ED87F-776E-8F34-DB20-A4ADA11B2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2619-51D3-4669-8534-F8430F830B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9967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D3C0B24-429A-49D5-510F-1D76BC1F4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708935-9A4B-AF7E-F179-78DA793E6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979DCA-A944-DFA0-6C95-6EAE7A7A01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4E8A76-39F3-4C66-8EA3-99D32DCC912E}" type="datetimeFigureOut">
              <a:rPr lang="es-CO" smtClean="0"/>
              <a:t>30/03/2026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FF9824-7F38-A690-E3CF-4F1E06421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75B07B-CF4C-B024-B4B7-B59F38C56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902619-51D3-4669-8534-F8430F830B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2539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jp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57A898-0C12-BBD6-683D-9D7A39792BA9}"/>
              </a:ext>
            </a:extLst>
          </p:cNvPr>
          <p:cNvSpPr/>
          <p:nvPr/>
        </p:nvSpPr>
        <p:spPr>
          <a:xfrm>
            <a:off x="2030776" y="1279285"/>
            <a:ext cx="4627932" cy="4983498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10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phic 2" descr="VPC group icon. ">
            <a:extLst>
              <a:ext uri="{FF2B5EF4-FFF2-40B4-BE49-F238E27FC236}">
                <a16:creationId xmlns:a16="http://schemas.microsoft.com/office/drawing/2014/main" id="{20090C3E-228D-3FEA-97ED-25D3E90746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030777" y="1279044"/>
            <a:ext cx="381000" cy="381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4CEB1C-EDB5-37FC-530D-984E571682DB}"/>
              </a:ext>
            </a:extLst>
          </p:cNvPr>
          <p:cNvSpPr txBox="1"/>
          <p:nvPr/>
        </p:nvSpPr>
        <p:spPr>
          <a:xfrm>
            <a:off x="2473567" y="1337655"/>
            <a:ext cx="1957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>
                <a:solidFill>
                  <a:srgbClr val="7030A0"/>
                </a:solidFill>
              </a:rPr>
              <a:t>App VPC (10.0.0.0/16)</a:t>
            </a:r>
            <a:endParaRPr lang="en-US" sz="1400" dirty="0">
              <a:solidFill>
                <a:srgbClr val="7030A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914342-0FD8-F9E8-388A-01F4A52CE0D4}"/>
              </a:ext>
            </a:extLst>
          </p:cNvPr>
          <p:cNvGraphicFramePr>
            <a:graphicFrameLocks noGrp="1"/>
          </p:cNvGraphicFramePr>
          <p:nvPr/>
        </p:nvGraphicFramePr>
        <p:xfrm>
          <a:off x="118173" y="1912592"/>
          <a:ext cx="1804412" cy="1030126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1055909">
                  <a:extLst>
                    <a:ext uri="{9D8B030D-6E8A-4147-A177-3AD203B41FA5}">
                      <a16:colId xmlns:a16="http://schemas.microsoft.com/office/drawing/2014/main" val="4270333770"/>
                    </a:ext>
                  </a:extLst>
                </a:gridCol>
                <a:gridCol w="748503">
                  <a:extLst>
                    <a:ext uri="{9D8B030D-6E8A-4147-A177-3AD203B41FA5}">
                      <a16:colId xmlns:a16="http://schemas.microsoft.com/office/drawing/2014/main" val="3036163600"/>
                    </a:ext>
                  </a:extLst>
                </a:gridCol>
              </a:tblGrid>
              <a:tr h="286463"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Ruta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Destino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541323"/>
                  </a:ext>
                </a:extLst>
              </a:tr>
              <a:tr h="286463">
                <a:tc>
                  <a:txBody>
                    <a:bodyPr/>
                    <a:lstStyle/>
                    <a:p>
                      <a:r>
                        <a:rPr lang="es-CO" sz="1200" dirty="0"/>
                        <a:t>10.0.0.0/16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200" dirty="0"/>
                        <a:t>local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3404934"/>
                  </a:ext>
                </a:extLst>
              </a:tr>
              <a:tr h="286463">
                <a:tc>
                  <a:txBody>
                    <a:bodyPr/>
                    <a:lstStyle/>
                    <a:p>
                      <a:r>
                        <a:rPr lang="es-CO" sz="1200" dirty="0"/>
                        <a:t>10.0.1.0/24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200" dirty="0" err="1"/>
                        <a:t>Vpce-xxxxxx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42153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EF28987-0FEC-9309-2407-CF04E909FB40}"/>
              </a:ext>
            </a:extLst>
          </p:cNvPr>
          <p:cNvSpPr txBox="1"/>
          <p:nvPr/>
        </p:nvSpPr>
        <p:spPr>
          <a:xfrm>
            <a:off x="679818" y="1643249"/>
            <a:ext cx="789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b="1" dirty="0"/>
              <a:t>IGW RT</a:t>
            </a:r>
            <a:endParaRPr lang="en-US" sz="1400" b="1" dirty="0"/>
          </a:p>
        </p:txBody>
      </p:sp>
      <p:pic>
        <p:nvPicPr>
          <p:cNvPr id="7" name="Graphic 6" descr="Internet gateway resource icon for the Amazon VPC service.&#10;">
            <a:extLst>
              <a:ext uri="{FF2B5EF4-FFF2-40B4-BE49-F238E27FC236}">
                <a16:creationId xmlns:a16="http://schemas.microsoft.com/office/drawing/2014/main" id="{785EF962-8D6E-CEB8-9497-606919A473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2175" y="3221391"/>
            <a:ext cx="457200" cy="457200"/>
          </a:xfrm>
          <a:prstGeom prst="rect">
            <a:avLst/>
          </a:prstGeom>
        </p:spPr>
      </p:pic>
      <p:pic>
        <p:nvPicPr>
          <p:cNvPr id="9" name="Picture 8" descr="A group of people with their heads turned&#10;&#10;Description automatically generated">
            <a:extLst>
              <a:ext uri="{FF2B5EF4-FFF2-40B4-BE49-F238E27FC236}">
                <a16:creationId xmlns:a16="http://schemas.microsoft.com/office/drawing/2014/main" id="{3166730C-3F88-E62C-7CBC-4742C93A6F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09" y="3105259"/>
            <a:ext cx="714008" cy="7140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470727-3DCA-4745-28EB-85278CA1CB7E}"/>
              </a:ext>
            </a:extLst>
          </p:cNvPr>
          <p:cNvSpPr txBox="1"/>
          <p:nvPr/>
        </p:nvSpPr>
        <p:spPr>
          <a:xfrm>
            <a:off x="269514" y="3729958"/>
            <a:ext cx="789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b="1" dirty="0" err="1"/>
              <a:t>Users</a:t>
            </a:r>
            <a:endParaRPr lang="en-US" sz="14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BCC183-E665-CAE4-40CF-EF8F8F85745B}"/>
              </a:ext>
            </a:extLst>
          </p:cNvPr>
          <p:cNvSpPr/>
          <p:nvPr/>
        </p:nvSpPr>
        <p:spPr>
          <a:xfrm>
            <a:off x="4044457" y="2306991"/>
            <a:ext cx="2344615" cy="3892062"/>
          </a:xfrm>
          <a:prstGeom prst="rect">
            <a:avLst/>
          </a:prstGeom>
          <a:noFill/>
          <a:ln>
            <a:solidFill>
              <a:srgbClr val="7030A0"/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428720-52F1-41EE-699F-43903D6015E1}"/>
              </a:ext>
            </a:extLst>
          </p:cNvPr>
          <p:cNvSpPr txBox="1"/>
          <p:nvPr/>
        </p:nvSpPr>
        <p:spPr>
          <a:xfrm>
            <a:off x="4504588" y="2037145"/>
            <a:ext cx="1529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b="1" dirty="0" err="1"/>
              <a:t>Availability</a:t>
            </a:r>
            <a:r>
              <a:rPr lang="es-CO" sz="1200" b="1" dirty="0"/>
              <a:t> </a:t>
            </a:r>
            <a:r>
              <a:rPr lang="es-CO" sz="1200" b="1" dirty="0" err="1"/>
              <a:t>Zone</a:t>
            </a:r>
            <a:r>
              <a:rPr lang="es-CO" sz="1200" b="1" dirty="0"/>
              <a:t> </a:t>
            </a:r>
            <a:endParaRPr lang="en-US" sz="1200" b="1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43FDC84-2625-EA1C-D9B8-4F31F3964B8B}"/>
              </a:ext>
            </a:extLst>
          </p:cNvPr>
          <p:cNvGraphicFramePr>
            <a:graphicFrameLocks noGrp="1"/>
          </p:cNvGraphicFramePr>
          <p:nvPr/>
        </p:nvGraphicFramePr>
        <p:xfrm>
          <a:off x="2146266" y="2182219"/>
          <a:ext cx="1804412" cy="859389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1055909">
                  <a:extLst>
                    <a:ext uri="{9D8B030D-6E8A-4147-A177-3AD203B41FA5}">
                      <a16:colId xmlns:a16="http://schemas.microsoft.com/office/drawing/2014/main" val="4270333770"/>
                    </a:ext>
                  </a:extLst>
                </a:gridCol>
                <a:gridCol w="748503">
                  <a:extLst>
                    <a:ext uri="{9D8B030D-6E8A-4147-A177-3AD203B41FA5}">
                      <a16:colId xmlns:a16="http://schemas.microsoft.com/office/drawing/2014/main" val="3036163600"/>
                    </a:ext>
                  </a:extLst>
                </a:gridCol>
              </a:tblGrid>
              <a:tr h="286463"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Ruta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Destino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541323"/>
                  </a:ext>
                </a:extLst>
              </a:tr>
              <a:tr h="286463">
                <a:tc>
                  <a:txBody>
                    <a:bodyPr/>
                    <a:lstStyle/>
                    <a:p>
                      <a:r>
                        <a:rPr lang="es-CO" sz="1200" dirty="0"/>
                        <a:t>10.0.0.0/16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200" dirty="0"/>
                        <a:t>local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3404934"/>
                  </a:ext>
                </a:extLst>
              </a:tr>
              <a:tr h="286463">
                <a:tc>
                  <a:txBody>
                    <a:bodyPr/>
                    <a:lstStyle/>
                    <a:p>
                      <a:r>
                        <a:rPr lang="es-CO" sz="1200" dirty="0"/>
                        <a:t>0.0.0.0/0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200" dirty="0" err="1"/>
                        <a:t>Igw-xxxx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42153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77D13E1-A116-F8C3-FAB4-AFE0DEAC7FDA}"/>
              </a:ext>
            </a:extLst>
          </p:cNvPr>
          <p:cNvSpPr txBox="1"/>
          <p:nvPr/>
        </p:nvSpPr>
        <p:spPr>
          <a:xfrm>
            <a:off x="2602404" y="1912876"/>
            <a:ext cx="10434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b="1" dirty="0" err="1"/>
              <a:t>GELBe</a:t>
            </a:r>
            <a:r>
              <a:rPr lang="es-CO" sz="1400" b="1" dirty="0"/>
              <a:t> RT</a:t>
            </a:r>
            <a:endParaRPr lang="en-US" sz="14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FEF9FE-FC86-47E7-E0C8-8E38DDBA47E3}"/>
              </a:ext>
            </a:extLst>
          </p:cNvPr>
          <p:cNvSpPr/>
          <p:nvPr/>
        </p:nvSpPr>
        <p:spPr>
          <a:xfrm>
            <a:off x="4167917" y="2616427"/>
            <a:ext cx="2092205" cy="1425582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 1 (10.0.2.0/24)</a:t>
            </a:r>
          </a:p>
        </p:txBody>
      </p:sp>
      <p:pic>
        <p:nvPicPr>
          <p:cNvPr id="17" name="Graphic 16" descr="Public subnet group icon. ">
            <a:extLst>
              <a:ext uri="{FF2B5EF4-FFF2-40B4-BE49-F238E27FC236}">
                <a16:creationId xmlns:a16="http://schemas.microsoft.com/office/drawing/2014/main" id="{7170A7EE-BEB5-BBB8-62C0-7F059C3424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167918" y="2628144"/>
            <a:ext cx="381000" cy="381000"/>
          </a:xfrm>
          <a:prstGeom prst="rect">
            <a:avLst/>
          </a:prstGeom>
        </p:spPr>
      </p:pic>
      <p:pic>
        <p:nvPicPr>
          <p:cNvPr id="18" name="Graphic 17" descr="Endpoints resource icon for the Amazon VPC service.&#10;">
            <a:extLst>
              <a:ext uri="{FF2B5EF4-FFF2-40B4-BE49-F238E27FC236}">
                <a16:creationId xmlns:a16="http://schemas.microsoft.com/office/drawing/2014/main" id="{7561E6A4-54ED-28AF-7974-061E2A2E81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6329" y="3222597"/>
            <a:ext cx="457200" cy="4572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47DAE65-7B99-4320-0175-449A31E5687F}"/>
              </a:ext>
            </a:extLst>
          </p:cNvPr>
          <p:cNvSpPr txBox="1"/>
          <p:nvPr/>
        </p:nvSpPr>
        <p:spPr>
          <a:xfrm>
            <a:off x="4883424" y="3638765"/>
            <a:ext cx="6845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000" dirty="0"/>
              <a:t>GWLBE</a:t>
            </a:r>
            <a:endParaRPr lang="en-US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ED8127-E5F2-6A48-3C84-DC0606389C65}"/>
              </a:ext>
            </a:extLst>
          </p:cNvPr>
          <p:cNvSpPr/>
          <p:nvPr/>
        </p:nvSpPr>
        <p:spPr>
          <a:xfrm>
            <a:off x="4179641" y="4480387"/>
            <a:ext cx="2092205" cy="166026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 2 (10.0.1.0/24)</a:t>
            </a:r>
          </a:p>
        </p:txBody>
      </p:sp>
      <p:pic>
        <p:nvPicPr>
          <p:cNvPr id="21" name="Graphic 20" descr="Public subnet group icon. ">
            <a:extLst>
              <a:ext uri="{FF2B5EF4-FFF2-40B4-BE49-F238E27FC236}">
                <a16:creationId xmlns:a16="http://schemas.microsoft.com/office/drawing/2014/main" id="{C402F28C-0D2E-4912-AF04-95203A7F81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191365" y="4492117"/>
            <a:ext cx="381000" cy="381000"/>
          </a:xfrm>
          <a:prstGeom prst="rect">
            <a:avLst/>
          </a:prstGeom>
        </p:spPr>
      </p:pic>
      <p:pic>
        <p:nvPicPr>
          <p:cNvPr id="22" name="Graphic 21" descr="Instances instance icon for the Amazon EC2 service.">
            <a:extLst>
              <a:ext uri="{FF2B5EF4-FFF2-40B4-BE49-F238E27FC236}">
                <a16:creationId xmlns:a16="http://schemas.microsoft.com/office/drawing/2014/main" id="{F86ACA06-ED51-F329-7175-4CE6F6725A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65301" y="5153694"/>
            <a:ext cx="457200" cy="4572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15E949E-4116-1E9D-7F80-84E939596CC8}"/>
              </a:ext>
            </a:extLst>
          </p:cNvPr>
          <p:cNvSpPr txBox="1"/>
          <p:nvPr/>
        </p:nvSpPr>
        <p:spPr>
          <a:xfrm>
            <a:off x="4610096" y="5647861"/>
            <a:ext cx="1262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b="1" dirty="0"/>
              <a:t>EC2 </a:t>
            </a:r>
            <a:r>
              <a:rPr lang="es-CO" sz="1200" b="1" dirty="0" err="1"/>
              <a:t>Instances</a:t>
            </a:r>
            <a:r>
              <a:rPr lang="es-CO" sz="1200" b="1" dirty="0"/>
              <a:t> </a:t>
            </a:r>
          </a:p>
          <a:p>
            <a:r>
              <a:rPr lang="es-CO" sz="1200" b="1" dirty="0"/>
              <a:t>(App servers)</a:t>
            </a:r>
            <a:endParaRPr lang="en-US" sz="1200" b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F9343B-03D5-C07A-6C9B-592DDC9629B8}"/>
              </a:ext>
            </a:extLst>
          </p:cNvPr>
          <p:cNvSpPr/>
          <p:nvPr/>
        </p:nvSpPr>
        <p:spPr>
          <a:xfrm>
            <a:off x="8402753" y="1279043"/>
            <a:ext cx="3648576" cy="4995463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10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91FAD1F-E801-DA96-09E3-FB2C6D37BF52}"/>
              </a:ext>
            </a:extLst>
          </p:cNvPr>
          <p:cNvSpPr/>
          <p:nvPr/>
        </p:nvSpPr>
        <p:spPr>
          <a:xfrm>
            <a:off x="9577752" y="1990471"/>
            <a:ext cx="2344615" cy="1863968"/>
          </a:xfrm>
          <a:prstGeom prst="rect">
            <a:avLst/>
          </a:prstGeom>
          <a:noFill/>
          <a:ln>
            <a:solidFill>
              <a:srgbClr val="7030A0"/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DB36E5-413A-5C16-0AE5-DE02B9F7D398}"/>
              </a:ext>
            </a:extLst>
          </p:cNvPr>
          <p:cNvSpPr txBox="1"/>
          <p:nvPr/>
        </p:nvSpPr>
        <p:spPr>
          <a:xfrm>
            <a:off x="10037883" y="1673733"/>
            <a:ext cx="1529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b="1" dirty="0" err="1"/>
              <a:t>Availability</a:t>
            </a:r>
            <a:r>
              <a:rPr lang="es-CO" sz="1200" b="1" dirty="0"/>
              <a:t> </a:t>
            </a:r>
            <a:r>
              <a:rPr lang="es-CO" sz="1200" b="1" dirty="0" err="1"/>
              <a:t>Zone</a:t>
            </a:r>
            <a:r>
              <a:rPr lang="es-CO" sz="1200" b="1" dirty="0"/>
              <a:t> </a:t>
            </a:r>
            <a:endParaRPr lang="en-US" sz="1200" b="1" dirty="0"/>
          </a:p>
        </p:txBody>
      </p:sp>
      <p:pic>
        <p:nvPicPr>
          <p:cNvPr id="33" name="Graphic 32" descr="Instances instance icon for the Amazon EC2 service.">
            <a:extLst>
              <a:ext uri="{FF2B5EF4-FFF2-40B4-BE49-F238E27FC236}">
                <a16:creationId xmlns:a16="http://schemas.microsoft.com/office/drawing/2014/main" id="{C75A94F4-B2C5-9482-F805-2C443554A1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43391" y="3062301"/>
            <a:ext cx="457200" cy="4572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E394E91-AB63-8559-299E-5731618A189C}"/>
              </a:ext>
            </a:extLst>
          </p:cNvPr>
          <p:cNvSpPr txBox="1"/>
          <p:nvPr/>
        </p:nvSpPr>
        <p:spPr>
          <a:xfrm>
            <a:off x="10682653" y="3079312"/>
            <a:ext cx="967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b="1" dirty="0"/>
              <a:t>Net </a:t>
            </a:r>
            <a:r>
              <a:rPr lang="es-CO" sz="1200" b="1" dirty="0" err="1"/>
              <a:t>Virt</a:t>
            </a:r>
            <a:r>
              <a:rPr lang="es-CO" sz="1200" b="1" dirty="0"/>
              <a:t> </a:t>
            </a:r>
            <a:r>
              <a:rPr lang="es-CO" sz="1200" b="1" dirty="0" err="1"/>
              <a:t>Appliances</a:t>
            </a:r>
            <a:endParaRPr lang="en-US" sz="1200" b="1" dirty="0"/>
          </a:p>
        </p:txBody>
      </p:sp>
      <p:pic>
        <p:nvPicPr>
          <p:cNvPr id="35" name="Graphic 34" descr="VPC group icon. ">
            <a:extLst>
              <a:ext uri="{FF2B5EF4-FFF2-40B4-BE49-F238E27FC236}">
                <a16:creationId xmlns:a16="http://schemas.microsoft.com/office/drawing/2014/main" id="{A65F058C-FACC-9525-5CD4-2C1D47F717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410318" y="1290766"/>
            <a:ext cx="381000" cy="3810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824981A-D20D-0081-2F2E-0C152135AE99}"/>
              </a:ext>
            </a:extLst>
          </p:cNvPr>
          <p:cNvSpPr txBox="1"/>
          <p:nvPr/>
        </p:nvSpPr>
        <p:spPr>
          <a:xfrm>
            <a:off x="8862649" y="1232149"/>
            <a:ext cx="1957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>
                <a:solidFill>
                  <a:srgbClr val="7030A0"/>
                </a:solidFill>
              </a:rPr>
              <a:t>Net </a:t>
            </a:r>
            <a:r>
              <a:rPr lang="es-CO" sz="1400" dirty="0" err="1">
                <a:solidFill>
                  <a:srgbClr val="7030A0"/>
                </a:solidFill>
              </a:rPr>
              <a:t>Applicance</a:t>
            </a:r>
            <a:r>
              <a:rPr lang="es-CO" sz="1400" dirty="0">
                <a:solidFill>
                  <a:srgbClr val="7030A0"/>
                </a:solidFill>
              </a:rPr>
              <a:t> VPC (192.168.0.0/16)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ED413BE-7EDE-05E9-23B2-795C255AB0DC}"/>
              </a:ext>
            </a:extLst>
          </p:cNvPr>
          <p:cNvSpPr/>
          <p:nvPr/>
        </p:nvSpPr>
        <p:spPr>
          <a:xfrm>
            <a:off x="9712936" y="2252997"/>
            <a:ext cx="2092205" cy="1475963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 1</a:t>
            </a:r>
          </a:p>
        </p:txBody>
      </p:sp>
      <p:pic>
        <p:nvPicPr>
          <p:cNvPr id="39" name="Graphic 38" descr="Private subnet group icon. ">
            <a:extLst>
              <a:ext uri="{FF2B5EF4-FFF2-40B4-BE49-F238E27FC236}">
                <a16:creationId xmlns:a16="http://schemas.microsoft.com/office/drawing/2014/main" id="{DEEB7115-6A4D-56A4-4DD4-4B9AF7A115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712936" y="2252998"/>
            <a:ext cx="451555" cy="381000"/>
          </a:xfrm>
          <a:prstGeom prst="rect">
            <a:avLst/>
          </a:prstGeom>
        </p:spPr>
      </p:pic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928FAE9-FEE0-0B82-9615-1F4DA0E9A753}"/>
              </a:ext>
            </a:extLst>
          </p:cNvPr>
          <p:cNvSpPr/>
          <p:nvPr/>
        </p:nvSpPr>
        <p:spPr>
          <a:xfrm>
            <a:off x="9952892" y="2852223"/>
            <a:ext cx="1696917" cy="2870444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35067E-2B81-5C95-35BF-B882BE2A8602}"/>
              </a:ext>
            </a:extLst>
          </p:cNvPr>
          <p:cNvSpPr txBox="1"/>
          <p:nvPr/>
        </p:nvSpPr>
        <p:spPr>
          <a:xfrm>
            <a:off x="10260624" y="2575224"/>
            <a:ext cx="11342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b="1" dirty="0"/>
              <a:t>Target </a:t>
            </a:r>
            <a:r>
              <a:rPr lang="es-CO" sz="1200" b="1" dirty="0" err="1"/>
              <a:t>Group</a:t>
            </a:r>
            <a:endParaRPr lang="en-US" sz="1200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5B24CF0-5528-88F9-A8E5-624605945DB5}"/>
              </a:ext>
            </a:extLst>
          </p:cNvPr>
          <p:cNvSpPr/>
          <p:nvPr/>
        </p:nvSpPr>
        <p:spPr>
          <a:xfrm>
            <a:off x="9589476" y="4219095"/>
            <a:ext cx="2344615" cy="1863967"/>
          </a:xfrm>
          <a:prstGeom prst="rect">
            <a:avLst/>
          </a:prstGeom>
          <a:noFill/>
          <a:ln>
            <a:solidFill>
              <a:srgbClr val="7030A0"/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CCFCDE-B561-3DFE-E8A7-80B73A1199DB}"/>
              </a:ext>
            </a:extLst>
          </p:cNvPr>
          <p:cNvSpPr txBox="1"/>
          <p:nvPr/>
        </p:nvSpPr>
        <p:spPr>
          <a:xfrm>
            <a:off x="10049607" y="3901117"/>
            <a:ext cx="1529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b="1" dirty="0" err="1"/>
              <a:t>Availability</a:t>
            </a:r>
            <a:r>
              <a:rPr lang="es-CO" sz="1200" b="1" dirty="0"/>
              <a:t> </a:t>
            </a:r>
            <a:r>
              <a:rPr lang="es-CO" sz="1200" b="1" dirty="0" err="1"/>
              <a:t>Zone</a:t>
            </a:r>
            <a:r>
              <a:rPr lang="es-CO" sz="1200" b="1" dirty="0"/>
              <a:t> </a:t>
            </a:r>
            <a:endParaRPr lang="en-US" sz="1200" b="1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5A734ED-1B57-CFFF-5357-790E405E0908}"/>
              </a:ext>
            </a:extLst>
          </p:cNvPr>
          <p:cNvSpPr/>
          <p:nvPr/>
        </p:nvSpPr>
        <p:spPr>
          <a:xfrm>
            <a:off x="9712937" y="4327978"/>
            <a:ext cx="2092205" cy="1475963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 2</a:t>
            </a:r>
          </a:p>
        </p:txBody>
      </p:sp>
      <p:pic>
        <p:nvPicPr>
          <p:cNvPr id="45" name="Graphic 44" descr="Private subnet group icon. ">
            <a:extLst>
              <a:ext uri="{FF2B5EF4-FFF2-40B4-BE49-F238E27FC236}">
                <a16:creationId xmlns:a16="http://schemas.microsoft.com/office/drawing/2014/main" id="{B10B306E-7C87-DFE6-AFB8-C75A40228A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724660" y="4339703"/>
            <a:ext cx="451555" cy="381000"/>
          </a:xfrm>
          <a:prstGeom prst="rect">
            <a:avLst/>
          </a:prstGeom>
        </p:spPr>
      </p:pic>
      <p:pic>
        <p:nvPicPr>
          <p:cNvPr id="46" name="Graphic 45" descr="Instances instance icon for the Amazon EC2 service.">
            <a:extLst>
              <a:ext uri="{FF2B5EF4-FFF2-40B4-BE49-F238E27FC236}">
                <a16:creationId xmlns:a16="http://schemas.microsoft.com/office/drawing/2014/main" id="{0884EB82-4722-AD0E-35EA-FC33EE28DD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08223" y="4902824"/>
            <a:ext cx="457200" cy="45720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D432A4D-9F4D-AA3E-A131-0D9BCE3692F0}"/>
              </a:ext>
            </a:extLst>
          </p:cNvPr>
          <p:cNvSpPr txBox="1"/>
          <p:nvPr/>
        </p:nvSpPr>
        <p:spPr>
          <a:xfrm>
            <a:off x="10612316" y="4884666"/>
            <a:ext cx="967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b="1" dirty="0"/>
              <a:t>Net </a:t>
            </a:r>
            <a:r>
              <a:rPr lang="es-CO" sz="1200" b="1" dirty="0" err="1"/>
              <a:t>Virt</a:t>
            </a:r>
            <a:r>
              <a:rPr lang="es-CO" sz="1200" b="1" dirty="0"/>
              <a:t> </a:t>
            </a:r>
            <a:r>
              <a:rPr lang="es-CO" sz="1200" b="1" dirty="0" err="1"/>
              <a:t>Appliances</a:t>
            </a:r>
            <a:endParaRPr lang="en-US" sz="1200" b="1" dirty="0"/>
          </a:p>
        </p:txBody>
      </p:sp>
      <p:pic>
        <p:nvPicPr>
          <p:cNvPr id="48" name="Graphic 47" descr="Gateway Load Balancer resource icon for the Elastic Load Balancing service.">
            <a:extLst>
              <a:ext uri="{FF2B5EF4-FFF2-40B4-BE49-F238E27FC236}">
                <a16:creationId xmlns:a16="http://schemas.microsoft.com/office/drawing/2014/main" id="{C3F6D213-6948-12C1-D745-24E5DD7143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03998" y="3228446"/>
            <a:ext cx="597510" cy="59751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C7B8328F-701A-B33B-6355-E31BC22FD723}"/>
              </a:ext>
            </a:extLst>
          </p:cNvPr>
          <p:cNvSpPr txBox="1"/>
          <p:nvPr/>
        </p:nvSpPr>
        <p:spPr>
          <a:xfrm>
            <a:off x="7892562" y="3876478"/>
            <a:ext cx="1201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b="1" dirty="0"/>
              <a:t>Gateway Load </a:t>
            </a:r>
            <a:r>
              <a:rPr lang="es-CO" sz="1200" b="1" dirty="0" err="1"/>
              <a:t>Balancer</a:t>
            </a:r>
            <a:endParaRPr lang="en-US" sz="12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1AA5CBC-89CC-1FF9-335D-39CD9C52DC5B}"/>
              </a:ext>
            </a:extLst>
          </p:cNvPr>
          <p:cNvSpPr txBox="1"/>
          <p:nvPr/>
        </p:nvSpPr>
        <p:spPr>
          <a:xfrm>
            <a:off x="8672389" y="2704241"/>
            <a:ext cx="967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b="1" dirty="0" err="1"/>
              <a:t>Protocol</a:t>
            </a:r>
            <a:r>
              <a:rPr lang="es-CO" sz="1200" b="1" dirty="0"/>
              <a:t>: GENEVE</a:t>
            </a:r>
          </a:p>
          <a:p>
            <a:r>
              <a:rPr lang="es-CO" sz="1200" b="1" dirty="0"/>
              <a:t>Port: 6081</a:t>
            </a:r>
            <a:endParaRPr lang="en-US" sz="1200" b="1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367C7C2-EDD1-1136-DC4F-256EB40CE399}"/>
              </a:ext>
            </a:extLst>
          </p:cNvPr>
          <p:cNvCxnSpPr>
            <a:cxnSpLocks/>
            <a:stCxn id="48" idx="3"/>
          </p:cNvCxnSpPr>
          <p:nvPr/>
        </p:nvCxnSpPr>
        <p:spPr>
          <a:xfrm flipV="1">
            <a:off x="8701508" y="3231651"/>
            <a:ext cx="1406715" cy="29555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F782610-A5B7-FAE0-256A-39DD7B6E6B8B}"/>
              </a:ext>
            </a:extLst>
          </p:cNvPr>
          <p:cNvCxnSpPr>
            <a:cxnSpLocks/>
          </p:cNvCxnSpPr>
          <p:nvPr/>
        </p:nvCxnSpPr>
        <p:spPr>
          <a:xfrm>
            <a:off x="8619299" y="3604524"/>
            <a:ext cx="1488924" cy="1481477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C87FD31-C4BC-BA9A-BC97-F77DA8E26F57}"/>
              </a:ext>
            </a:extLst>
          </p:cNvPr>
          <p:cNvCxnSpPr>
            <a:stCxn id="9" idx="3"/>
            <a:endCxn id="7" idx="1"/>
          </p:cNvCxnSpPr>
          <p:nvPr/>
        </p:nvCxnSpPr>
        <p:spPr>
          <a:xfrm flipV="1">
            <a:off x="895717" y="3449991"/>
            <a:ext cx="906458" cy="122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8A10944-BF24-09AC-2872-23DBACB982D3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2259375" y="3449991"/>
            <a:ext cx="2706954" cy="12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5715664-050D-6203-CD69-1FD60B80BE23}"/>
              </a:ext>
            </a:extLst>
          </p:cNvPr>
          <p:cNvCxnSpPr>
            <a:cxnSpLocks/>
            <a:stCxn id="18" idx="3"/>
            <a:endCxn id="48" idx="1"/>
          </p:cNvCxnSpPr>
          <p:nvPr/>
        </p:nvCxnSpPr>
        <p:spPr>
          <a:xfrm>
            <a:off x="5423529" y="3451197"/>
            <a:ext cx="2680469" cy="760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68C0F45-8890-9AB7-4B00-11C394E32752}"/>
              </a:ext>
            </a:extLst>
          </p:cNvPr>
          <p:cNvCxnSpPr>
            <a:cxnSpLocks/>
          </p:cNvCxnSpPr>
          <p:nvPr/>
        </p:nvCxnSpPr>
        <p:spPr>
          <a:xfrm flipH="1" flipV="1">
            <a:off x="5423529" y="3604524"/>
            <a:ext cx="2661958" cy="521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8F66085-5688-B053-4685-394E95B9EEBF}"/>
              </a:ext>
            </a:extLst>
          </p:cNvPr>
          <p:cNvCxnSpPr>
            <a:stCxn id="19" idx="0"/>
          </p:cNvCxnSpPr>
          <p:nvPr/>
        </p:nvCxnSpPr>
        <p:spPr>
          <a:xfrm flipH="1">
            <a:off x="5214019" y="3638765"/>
            <a:ext cx="11660" cy="15123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3562FF6-CA96-EE6E-BC76-86AC37082DDC}"/>
              </a:ext>
            </a:extLst>
          </p:cNvPr>
          <p:cNvCxnSpPr/>
          <p:nvPr/>
        </p:nvCxnSpPr>
        <p:spPr>
          <a:xfrm flipV="1">
            <a:off x="5093901" y="3678591"/>
            <a:ext cx="0" cy="14369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DAAF7CD-8B5B-8CC9-C415-7CC8349713FC}"/>
              </a:ext>
            </a:extLst>
          </p:cNvPr>
          <p:cNvCxnSpPr/>
          <p:nvPr/>
        </p:nvCxnSpPr>
        <p:spPr>
          <a:xfrm>
            <a:off x="5423529" y="3761875"/>
            <a:ext cx="2680469" cy="573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F5CBDFD9-6F46-419C-A960-EA545E0AC96D}"/>
              </a:ext>
            </a:extLst>
          </p:cNvPr>
          <p:cNvCxnSpPr>
            <a:cxnSpLocks/>
          </p:cNvCxnSpPr>
          <p:nvPr/>
        </p:nvCxnSpPr>
        <p:spPr>
          <a:xfrm flipH="1" flipV="1">
            <a:off x="5423529" y="3876478"/>
            <a:ext cx="2469033" cy="500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213D199-7C3E-D521-74B7-3F9777467FBE}"/>
              </a:ext>
            </a:extLst>
          </p:cNvPr>
          <p:cNvCxnSpPr/>
          <p:nvPr/>
        </p:nvCxnSpPr>
        <p:spPr>
          <a:xfrm flipH="1">
            <a:off x="2259375" y="3540977"/>
            <a:ext cx="262404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1BDF3C1-17C3-2368-D4C2-3F96C009411C}"/>
              </a:ext>
            </a:extLst>
          </p:cNvPr>
          <p:cNvCxnSpPr/>
          <p:nvPr/>
        </p:nvCxnSpPr>
        <p:spPr>
          <a:xfrm flipH="1">
            <a:off x="895717" y="3604524"/>
            <a:ext cx="90645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id="{C5C07433-B62C-CF11-CEDA-C20BE6FE0991}"/>
              </a:ext>
            </a:extLst>
          </p:cNvPr>
          <p:cNvGraphicFramePr>
            <a:graphicFrameLocks noGrp="1"/>
          </p:cNvGraphicFramePr>
          <p:nvPr/>
        </p:nvGraphicFramePr>
        <p:xfrm>
          <a:off x="2146267" y="4925422"/>
          <a:ext cx="1804412" cy="859389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972071">
                  <a:extLst>
                    <a:ext uri="{9D8B030D-6E8A-4147-A177-3AD203B41FA5}">
                      <a16:colId xmlns:a16="http://schemas.microsoft.com/office/drawing/2014/main" val="4270333770"/>
                    </a:ext>
                  </a:extLst>
                </a:gridCol>
                <a:gridCol w="832341">
                  <a:extLst>
                    <a:ext uri="{9D8B030D-6E8A-4147-A177-3AD203B41FA5}">
                      <a16:colId xmlns:a16="http://schemas.microsoft.com/office/drawing/2014/main" val="3036163600"/>
                    </a:ext>
                  </a:extLst>
                </a:gridCol>
              </a:tblGrid>
              <a:tr h="286463"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Ruta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Destino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541323"/>
                  </a:ext>
                </a:extLst>
              </a:tr>
              <a:tr h="286463">
                <a:tc>
                  <a:txBody>
                    <a:bodyPr/>
                    <a:lstStyle/>
                    <a:p>
                      <a:r>
                        <a:rPr lang="es-CO" sz="1200" dirty="0"/>
                        <a:t>10.0.0.0/16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200" dirty="0"/>
                        <a:t>local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3404934"/>
                  </a:ext>
                </a:extLst>
              </a:tr>
              <a:tr h="286463">
                <a:tc>
                  <a:txBody>
                    <a:bodyPr/>
                    <a:lstStyle/>
                    <a:p>
                      <a:r>
                        <a:rPr lang="es-CO" sz="1200" dirty="0"/>
                        <a:t>0.0.0.0/0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200" dirty="0"/>
                        <a:t>VPCE-</a:t>
                      </a:r>
                      <a:r>
                        <a:rPr lang="es-CO" sz="1200" dirty="0" err="1"/>
                        <a:t>xxx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421532"/>
                  </a:ext>
                </a:extLst>
              </a:tr>
            </a:tbl>
          </a:graphicData>
        </a:graphic>
      </p:graphicFrame>
      <p:sp>
        <p:nvSpPr>
          <p:cNvPr id="82" name="TextBox 81">
            <a:extLst>
              <a:ext uri="{FF2B5EF4-FFF2-40B4-BE49-F238E27FC236}">
                <a16:creationId xmlns:a16="http://schemas.microsoft.com/office/drawing/2014/main" id="{1BDC0B0A-30B1-C457-7EAE-A017C2A9C04D}"/>
              </a:ext>
            </a:extLst>
          </p:cNvPr>
          <p:cNvSpPr txBox="1"/>
          <p:nvPr/>
        </p:nvSpPr>
        <p:spPr>
          <a:xfrm>
            <a:off x="2602405" y="4656079"/>
            <a:ext cx="10434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b="1" dirty="0"/>
              <a:t>APP RT</a:t>
            </a:r>
            <a:endParaRPr lang="en-US" sz="14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DCCD160-A32D-1594-E145-DF6AA0C4956C}"/>
              </a:ext>
            </a:extLst>
          </p:cNvPr>
          <p:cNvSpPr txBox="1"/>
          <p:nvPr/>
        </p:nvSpPr>
        <p:spPr>
          <a:xfrm>
            <a:off x="339851" y="740566"/>
            <a:ext cx="63188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b="1" dirty="0"/>
              <a:t>GWLBE y los servidores de aplicaciones deben estar en subredes diferentes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029099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82" grpId="0"/>
      <p:bldP spid="83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95</Words>
  <Application>Microsoft Office PowerPoint</Application>
  <PresentationFormat>Panorámica</PresentationFormat>
  <Paragraphs>41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Guille Cabrera</dc:creator>
  <cp:lastModifiedBy>Guille Cabrera</cp:lastModifiedBy>
  <cp:revision>1</cp:revision>
  <dcterms:created xsi:type="dcterms:W3CDTF">2026-03-30T21:47:05Z</dcterms:created>
  <dcterms:modified xsi:type="dcterms:W3CDTF">2026-03-30T21:48:42Z</dcterms:modified>
</cp:coreProperties>
</file>